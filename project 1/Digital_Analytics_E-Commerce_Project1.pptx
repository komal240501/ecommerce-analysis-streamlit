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1119" r:id="rId2"/>
    <p:sldId id="1496" r:id="rId3"/>
    <p:sldId id="1497" r:id="rId4"/>
    <p:sldId id="1498" r:id="rId5"/>
    <p:sldId id="1510" r:id="rId6"/>
    <p:sldId id="1511" r:id="rId7"/>
    <p:sldId id="1512" r:id="rId8"/>
    <p:sldId id="1508" r:id="rId9"/>
    <p:sldId id="1521" r:id="rId10"/>
    <p:sldId id="1522" r:id="rId11"/>
    <p:sldId id="1499" r:id="rId12"/>
    <p:sldId id="1501" r:id="rId13"/>
    <p:sldId id="1502" r:id="rId14"/>
    <p:sldId id="1505" r:id="rId15"/>
    <p:sldId id="1503" r:id="rId16"/>
    <p:sldId id="1504" r:id="rId17"/>
    <p:sldId id="1506" r:id="rId18"/>
    <p:sldId id="1507" r:id="rId19"/>
    <p:sldId id="1514" r:id="rId20"/>
    <p:sldId id="1520" r:id="rId21"/>
    <p:sldId id="1523" r:id="rId22"/>
    <p:sldId id="1516" r:id="rId23"/>
    <p:sldId id="1515" r:id="rId24"/>
    <p:sldId id="1509" r:id="rId25"/>
    <p:sldId id="1524" r:id="rId26"/>
    <p:sldId id="1513" r:id="rId27"/>
    <p:sldId id="1517" r:id="rId28"/>
    <p:sldId id="1518" r:id="rId29"/>
    <p:sldId id="1519" r:id="rId30"/>
    <p:sldId id="30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CC"/>
    <a:srgbClr val="2CB22F"/>
    <a:srgbClr val="AEFCFC"/>
    <a:srgbClr val="E0C1FF"/>
    <a:srgbClr val="CC99FF"/>
    <a:srgbClr val="00589A"/>
    <a:srgbClr val="DECEFE"/>
    <a:srgbClr val="D0B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26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43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93CE8-3B10-43B2-8860-AFD8154600F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105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93CE8-3B10-43B2-8860-AFD8154600F8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812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5542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36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1362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8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8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6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 userDrawn="1"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94567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F642-B155-3EAA-0E23-97793C0E3936}"/>
              </a:ext>
            </a:extLst>
          </p:cNvPr>
          <p:cNvSpPr txBox="1"/>
          <p:nvPr/>
        </p:nvSpPr>
        <p:spPr>
          <a:xfrm>
            <a:off x="6428038" y="653464"/>
            <a:ext cx="4741333" cy="6351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Analytics for an E-Commerce Company</a:t>
            </a:r>
            <a:endParaRPr lang="en-IN" sz="3200" b="1" kern="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667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Name: Komal Lunawat</a:t>
            </a: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667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Date: 22/08/2026</a:t>
            </a: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134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03B91D-5C02-48C0-DF6E-84767A9F9558}"/>
              </a:ext>
            </a:extLst>
          </p:cNvPr>
          <p:cNvSpPr txBox="1"/>
          <p:nvPr/>
        </p:nvSpPr>
        <p:spPr>
          <a:xfrm>
            <a:off x="1" y="263609"/>
            <a:ext cx="12191999" cy="7078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IN" sz="4000" b="1" i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Company Overview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2E4BA8-B483-41C5-72D2-D43997612940}"/>
              </a:ext>
            </a:extLst>
          </p:cNvPr>
          <p:cNvSpPr txBox="1"/>
          <p:nvPr/>
        </p:nvSpPr>
        <p:spPr>
          <a:xfrm>
            <a:off x="336884" y="1331495"/>
            <a:ext cx="11678653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 Context &amp; Problem Statement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newly launched e-commerce retail startup selling stuffed animal toys, operating on a custom-built e-commerce platform since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March 2012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As of the latest data (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March 2015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the company has been live for ~3 years.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Cindy Sharp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raising a larger VC funding round from a top West Coast firm and needs the analytics team to translate three years of raw operational data into a compelling, data-driven growth story, plus reusable tools stakeholders can monitor going forward.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a repeatable analytics capability — cleaned data, KPI dashboards, performance analysis, new-product analysis, and predictive analytics — that (a) supports Cindy's investor narrative and (b) becomes an ongoing decision-support tool for the CEO, Website Manager, and Marketing Director.</a:t>
            </a:r>
          </a:p>
        </p:txBody>
      </p:sp>
    </p:spTree>
    <p:extLst>
      <p:ext uri="{BB962C8B-B14F-4D97-AF65-F5344CB8AC3E}">
        <p14:creationId xmlns:p14="http://schemas.microsoft.com/office/powerpoint/2010/main" val="2708497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D1D55-B2FA-48A0-9A40-000E38246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6252"/>
            <a:ext cx="12191999" cy="120315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 Information</a:t>
            </a:r>
            <a:endParaRPr lang="en-IN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8C245DD1-B352-EAAD-3583-3FC348E1748D}"/>
              </a:ext>
            </a:extLst>
          </p:cNvPr>
          <p:cNvSpPr/>
          <p:nvPr/>
        </p:nvSpPr>
        <p:spPr>
          <a:xfrm>
            <a:off x="403197" y="1532021"/>
            <a:ext cx="3045856" cy="4114800"/>
          </a:xfrm>
          <a:prstGeom prst="roundRect">
            <a:avLst>
              <a:gd name="adj" fmla="val 3200"/>
            </a:avLst>
          </a:prstGeom>
          <a:solidFill>
            <a:srgbClr val="EAF6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Cindy Sharp-CEO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Focused on investor relations, securing capital, and long-term company growth metrics.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B7F8395-38AB-C0A8-CC94-96DF6FCE5F6C}"/>
              </a:ext>
            </a:extLst>
          </p:cNvPr>
          <p:cNvSpPr/>
          <p:nvPr/>
        </p:nvSpPr>
        <p:spPr>
          <a:xfrm>
            <a:off x="4373618" y="1532021"/>
            <a:ext cx="3045856" cy="4114800"/>
          </a:xfrm>
          <a:prstGeom prst="roundRect">
            <a:avLst>
              <a:gd name="adj" fmla="val 3200"/>
            </a:avLst>
          </a:prstGeom>
          <a:solidFill>
            <a:srgbClr val="EAF6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Morgan Rockwell-Website Manager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Focused on web performance, conversion funnels, session tracking, and user experience.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A056A77-3082-6EF8-236B-A002D82B2DC6}"/>
              </a:ext>
            </a:extLst>
          </p:cNvPr>
          <p:cNvSpPr/>
          <p:nvPr/>
        </p:nvSpPr>
        <p:spPr>
          <a:xfrm>
            <a:off x="8344039" y="1532021"/>
            <a:ext cx="3045856" cy="4114800"/>
          </a:xfrm>
          <a:prstGeom prst="roundRect">
            <a:avLst>
              <a:gd name="adj" fmla="val 3200"/>
            </a:avLst>
          </a:prstGeom>
          <a:solidFill>
            <a:srgbClr val="EAF6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 Parmesan-Marketing Director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Focused on campaign returns, product promos, user acquisition cost, and revenue growth</a:t>
            </a: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718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E3D02-36CC-CA4D-86BE-74F319BBB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37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DCF5A4-B602-0FD1-CC68-B3375026B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104676"/>
              </p:ext>
            </p:extLst>
          </p:nvPr>
        </p:nvGraphicFramePr>
        <p:xfrm>
          <a:off x="330869" y="1298020"/>
          <a:ext cx="11395911" cy="471980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49215">
                  <a:extLst>
                    <a:ext uri="{9D8B030D-6E8A-4147-A177-3AD203B41FA5}">
                      <a16:colId xmlns:a16="http://schemas.microsoft.com/office/drawing/2014/main" val="1874332373"/>
                    </a:ext>
                  </a:extLst>
                </a:gridCol>
                <a:gridCol w="3577390">
                  <a:extLst>
                    <a:ext uri="{9D8B030D-6E8A-4147-A177-3AD203B41FA5}">
                      <a16:colId xmlns:a16="http://schemas.microsoft.com/office/drawing/2014/main" val="3301863808"/>
                    </a:ext>
                  </a:extLst>
                </a:gridCol>
                <a:gridCol w="5069306">
                  <a:extLst>
                    <a:ext uri="{9D8B030D-6E8A-4147-A177-3AD203B41FA5}">
                      <a16:colId xmlns:a16="http://schemas.microsoft.com/office/drawing/2014/main" val="3568106398"/>
                    </a:ext>
                  </a:extLst>
                </a:gridCol>
              </a:tblGrid>
              <a:tr h="462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265027"/>
                  </a:ext>
                </a:extLst>
              </a:tr>
              <a:tr h="811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storage / checks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 Server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8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Imports the raw data sheets and hosts the main database. Every auditing query and cleaning step — fixing wrong prices, removing errors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221780"/>
                  </a:ext>
                </a:extLst>
              </a:tr>
              <a:tr h="642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prep /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(pandas)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Cleaning, joining, feature engineering, EDA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358187"/>
                  </a:ext>
                </a:extLst>
              </a:tr>
              <a:tr h="811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modeling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(scikit-learn) — Linear/Logistic Regression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Forecasting &amp; classification per Predictive Analysis Plan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292653"/>
                  </a:ext>
                </a:extLst>
              </a:tr>
              <a:tr h="811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Dashboarding /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800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Builds clean, interactive dashboards for business managers, connecting directly to the cleaned SQL database to show daily performance charts.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3968952"/>
                  </a:ext>
                </a:extLst>
              </a:tr>
              <a:tr h="4621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 </a:t>
                      </a:r>
                      <a:r>
                        <a:rPr lang="en-IN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Powerpoint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The final platform for presenting the entire project to stakeholders — documenting data issues, cleaning steps, business insights, and dashboard plans in a clean business format.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9694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846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18076-4A61-6444-7CA0-3EC65316A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1943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Work / Deliverables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8C7C74-A28F-71AE-4411-231455F1C8B0}"/>
              </a:ext>
            </a:extLst>
          </p:cNvPr>
          <p:cNvSpPr txBox="1"/>
          <p:nvPr/>
        </p:nvSpPr>
        <p:spPr>
          <a:xfrm>
            <a:off x="245806" y="691246"/>
            <a:ext cx="1118911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rtl="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Clean, join, and validate the six tables into an analysis-ready model (sessions → pageviews → orders → order items → refunds → products).</a:t>
            </a:r>
          </a:p>
          <a:p>
            <a:pPr marL="342900" lvl="0" indent="-342900" algn="just" rtl="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framework: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 core metrics — sessions, conversion rate, orders, revenue, AOV, COGS/margin, refund rate, repeat session rate — at company, channel, and product level.</a:t>
            </a:r>
          </a:p>
          <a:p>
            <a:pPr marL="342900" lvl="0" indent="-342900" algn="just" rtl="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&amp; performance analysis: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Trended and segmented analysis of growth, channel mix shifts, device mix, and funnel drop-off (session → pageview → order).</a:t>
            </a:r>
          </a:p>
          <a:p>
            <a:pPr marL="342900" lvl="0" indent="-342900" algn="just" rtl="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product analysis: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of each product post-launch — adoption curve, cross-sell/cannibalization effects on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Mr. Fuzzy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margin contribution.</a:t>
            </a:r>
          </a:p>
          <a:p>
            <a:pPr marL="342900" lvl="0" indent="-342900" algn="just" rtl="0"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 (4 analysis views):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Analysis: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trend, conversion, refund rate by channel — for the Marketing Director.</a:t>
            </a:r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Analysis: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margin &amp; product mix trend — for the CEO.</a:t>
            </a:r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Analysis: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session funnel &amp; device mix — for the Website Manager.</a:t>
            </a:r>
          </a:p>
          <a:p>
            <a:pPr marL="342900" lvl="0" indent="-342900" algn="just" rtl="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Pageview Analysis: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bounce rate &amp; page drop-off — for the Website Manager.</a:t>
            </a:r>
          </a:p>
          <a:p>
            <a:pPr marL="342900" lvl="0" indent="-342900" algn="just" rtl="0">
              <a:buFont typeface="+mj-lt"/>
              <a:buAutoNum type="arabicPeriod" startAt="6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forecasting model (e.g., time-series forecast of monthly orders/revenue) to support forward-looking planning.</a:t>
            </a:r>
          </a:p>
          <a:p>
            <a:pPr marL="342900" lvl="0" indent="-342900" algn="just" rtl="0">
              <a:buFont typeface="+mj-lt"/>
              <a:buAutoNum type="arabicPeriod" startAt="6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presentation/report: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synthesized narrative connecting the data to the growth story for investors.</a:t>
            </a:r>
          </a:p>
        </p:txBody>
      </p:sp>
    </p:spTree>
    <p:extLst>
      <p:ext uri="{BB962C8B-B14F-4D97-AF65-F5344CB8AC3E}">
        <p14:creationId xmlns:p14="http://schemas.microsoft.com/office/powerpoint/2010/main" val="415811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5EDF-6CAB-2FBB-FF48-3CDEE6935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842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 /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FFE59-AACA-9F9D-FDDC-FB6650F5EEA1}"/>
              </a:ext>
            </a:extLst>
          </p:cNvPr>
          <p:cNvSpPr txBox="1"/>
          <p:nvPr/>
        </p:nvSpPr>
        <p:spPr>
          <a:xfrm>
            <a:off x="176981" y="843141"/>
            <a:ext cx="116118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 &amp; cleaning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profile all six tables, check referential integrity, handle nulls (e.g., missing UTM values as "direct/unknown" traffic).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build a unified analysis dataset joining sessions → orders → order items → refunds → products.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trend, funnel, and segment analysis in Python/SQL.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&amp; metric design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align definitions with stakeholder needs before dashboard build.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build interactive dashboards (e.g., Power BI/Tableau or equivalent) per stakeholder.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select and validate a forecasting approach; back-test against historical months.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Storytelling &amp; delivery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package findings into a report/deck aligned to the investor narrative Cindy needs.</a:t>
            </a:r>
          </a:p>
        </p:txBody>
      </p:sp>
    </p:spTree>
    <p:extLst>
      <p:ext uri="{BB962C8B-B14F-4D97-AF65-F5344CB8AC3E}">
        <p14:creationId xmlns:p14="http://schemas.microsoft.com/office/powerpoint/2010/main" val="3719479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E3724-BBD8-E721-726A-9C0F3C0C7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758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4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ssumptions</a:t>
            </a:r>
            <a:endParaRPr lang="en-IN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BE5753-2B4F-74A3-51B8-550C3FABCC66}"/>
              </a:ext>
            </a:extLst>
          </p:cNvPr>
          <p:cNvSpPr txBox="1"/>
          <p:nvPr/>
        </p:nvSpPr>
        <p:spPr>
          <a:xfrm>
            <a:off x="353961" y="979944"/>
            <a:ext cx="1044185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"3 years in market" (per CEO's email) aligns with the observed data range (Mar 2012–Mar 2015); this is treated as the full analysis window.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is_repeat_session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other pre-computed flags in the source data are trusted as correct unless contradicted by validation (see Deliverable 02).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 is USD throughout; no currency conversion needed.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BI tool will be used to build all three stakeholder dashboards (single source of truth), rather than separate tools per stakeholder.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Refunds reduce net revenue but the orders/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order_items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price_usd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fields represent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 value (not net of refunds) unless stated otherwise.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customer demographic or marketing spend/cost data is available — channel efficiency will be measured via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rate and volume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true CAC/ROI (since ad spend isn't in the dataset).</a:t>
            </a:r>
          </a:p>
        </p:txBody>
      </p:sp>
    </p:spTree>
    <p:extLst>
      <p:ext uri="{BB962C8B-B14F-4D97-AF65-F5344CB8AC3E}">
        <p14:creationId xmlns:p14="http://schemas.microsoft.com/office/powerpoint/2010/main" val="67691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DD4FC-A516-A048-49DE-F03C3ADD6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97856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Types of Analysis</a:t>
            </a:r>
            <a:endParaRPr lang="en-IN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9179E55-976C-6F84-FE81-5E7988D8A2A8}"/>
              </a:ext>
            </a:extLst>
          </p:cNvPr>
          <p:cNvSpPr/>
          <p:nvPr/>
        </p:nvSpPr>
        <p:spPr>
          <a:xfrm>
            <a:off x="77724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Descriptive  —  What happened?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6270C26C-0BA9-E5E7-C07C-2E4CB30E1D0D}"/>
              </a:ext>
            </a:extLst>
          </p:cNvPr>
          <p:cNvSpPr/>
          <p:nvPr/>
        </p:nvSpPr>
        <p:spPr>
          <a:xfrm>
            <a:off x="487680" y="1645920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EAF6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C5D66CD5-A3B6-8588-040F-E4EA3E0A2D54}"/>
              </a:ext>
            </a:extLst>
          </p:cNvPr>
          <p:cNvSpPr/>
          <p:nvPr/>
        </p:nvSpPr>
        <p:spPr>
          <a:xfrm>
            <a:off x="6172200" y="1111156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B65738DE-B583-F7BE-A226-497E1D0F373A}"/>
              </a:ext>
            </a:extLst>
          </p:cNvPr>
          <p:cNvSpPr/>
          <p:nvPr/>
        </p:nvSpPr>
        <p:spPr>
          <a:xfrm>
            <a:off x="6172200" y="1702548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EAF6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6434D5E8-D185-B56D-7256-C26CD3C12CA4}"/>
              </a:ext>
            </a:extLst>
          </p:cNvPr>
          <p:cNvSpPr/>
          <p:nvPr/>
        </p:nvSpPr>
        <p:spPr>
          <a:xfrm>
            <a:off x="533400" y="3560385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6FA8A6"/>
          </a:solidFill>
          <a:ln/>
        </p:spPr>
      </p:sp>
      <p:sp>
        <p:nvSpPr>
          <p:cNvPr id="14" name="Shape 15">
            <a:extLst>
              <a:ext uri="{FF2B5EF4-FFF2-40B4-BE49-F238E27FC236}">
                <a16:creationId xmlns:a16="http://schemas.microsoft.com/office/drawing/2014/main" id="{FE6FAE64-3272-A3C3-AE78-F2F5231050EA}"/>
              </a:ext>
            </a:extLst>
          </p:cNvPr>
          <p:cNvSpPr/>
          <p:nvPr/>
        </p:nvSpPr>
        <p:spPr>
          <a:xfrm>
            <a:off x="533400" y="4146563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EAF6F5"/>
          </a:solidFill>
          <a:ln w="12700">
            <a:solidFill>
              <a:srgbClr val="6FA8A6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69F9488A-9E0A-E89C-CEB2-98A1ED41BE34}"/>
              </a:ext>
            </a:extLst>
          </p:cNvPr>
          <p:cNvSpPr/>
          <p:nvPr/>
        </p:nvSpPr>
        <p:spPr>
          <a:xfrm>
            <a:off x="6172200" y="3602656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6FA8A6"/>
          </a:solidFill>
          <a:ln/>
        </p:spPr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15433288-8F7D-8225-9890-1CA2F922F322}"/>
              </a:ext>
            </a:extLst>
          </p:cNvPr>
          <p:cNvSpPr/>
          <p:nvPr/>
        </p:nvSpPr>
        <p:spPr>
          <a:xfrm>
            <a:off x="6172200" y="4169744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EAF6F5"/>
          </a:solidFill>
          <a:ln w="12700">
            <a:solidFill>
              <a:srgbClr val="6FA8A6"/>
            </a:solidFill>
            <a:prstDash val="solid"/>
          </a:ln>
        </p:spPr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ABECC400-6287-AD41-5C3D-015CDE978309}"/>
              </a:ext>
            </a:extLst>
          </p:cNvPr>
          <p:cNvSpPr/>
          <p:nvPr/>
        </p:nvSpPr>
        <p:spPr>
          <a:xfrm>
            <a:off x="807720" y="187359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Monthly sessions, orders &amp; revenue trend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Totals: conversion rate &amp; average order value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Revenue share per product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Channel / device / campaign split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595510EF-00A5-707C-A796-DA79CDE80955}"/>
              </a:ext>
            </a:extLst>
          </p:cNvPr>
          <p:cNvSpPr/>
          <p:nvPr/>
        </p:nvSpPr>
        <p:spPr>
          <a:xfrm>
            <a:off x="6341807" y="108075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Diagnostic  —  Why did it happen?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4E705017-2060-711B-291C-D39A44AD2CC4}"/>
              </a:ext>
            </a:extLst>
          </p:cNvPr>
          <p:cNvSpPr/>
          <p:nvPr/>
        </p:nvSpPr>
        <p:spPr>
          <a:xfrm>
            <a:off x="6446520" y="1857996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Refund rate by product &amp; campaign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Conversion rate by channel &amp; device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Profit margin by order and product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Data-quality findings explain anomalies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8F1D2463-20DD-9345-05FC-B3B447003B1F}"/>
              </a:ext>
            </a:extLst>
          </p:cNvPr>
          <p:cNvSpPr/>
          <p:nvPr/>
        </p:nvSpPr>
        <p:spPr>
          <a:xfrm>
            <a:off x="762000" y="3547357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Predictive  —  What's likely next?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68F55EAE-EF6C-362B-D058-B5D6C65AC46F}"/>
              </a:ext>
            </a:extLst>
          </p:cNvPr>
          <p:cNvSpPr/>
          <p:nvPr/>
        </p:nvSpPr>
        <p:spPr>
          <a:xfrm>
            <a:off x="762000" y="4283723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Forecast sessions, orders &amp; revenue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Estimate refund likelihood by product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Project seasonal demand per product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3773DEC6-630F-7F72-D26A-8783CD96EB4A}"/>
              </a:ext>
            </a:extLst>
          </p:cNvPr>
          <p:cNvSpPr/>
          <p:nvPr/>
        </p:nvSpPr>
        <p:spPr>
          <a:xfrm>
            <a:off x="6341806" y="3574708"/>
            <a:ext cx="46998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Prescriptive  —  What should we do?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57086A0B-8813-D94A-BED0-236461EB0664}"/>
              </a:ext>
            </a:extLst>
          </p:cNvPr>
          <p:cNvSpPr/>
          <p:nvPr/>
        </p:nvSpPr>
        <p:spPr>
          <a:xfrm>
            <a:off x="6446520" y="429310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Shift budget to high-converting channels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Flag high refund-rate products for review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Recommend AOV-lifting actions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Prioritize restocking top revenue drivers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AC9CAECB-7C24-8F78-0D01-510C7447FD19}"/>
              </a:ext>
            </a:extLst>
          </p:cNvPr>
          <p:cNvSpPr/>
          <p:nvPr/>
        </p:nvSpPr>
        <p:spPr>
          <a:xfrm>
            <a:off x="533400" y="105156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2CF418AE-8DE9-C063-D119-C9A2E9FA41B0}"/>
              </a:ext>
            </a:extLst>
          </p:cNvPr>
          <p:cNvSpPr/>
          <p:nvPr/>
        </p:nvSpPr>
        <p:spPr>
          <a:xfrm>
            <a:off x="762000" y="1051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Descriptive  —  What happened?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491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E3724-BBD8-E721-726A-9C0F3C0C7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758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Plan — Descriptive Analysis</a:t>
            </a:r>
            <a:endParaRPr lang="en-IN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BE5753-2B4F-74A3-51B8-550C3FABCC66}"/>
              </a:ext>
            </a:extLst>
          </p:cNvPr>
          <p:cNvSpPr txBox="1"/>
          <p:nvPr/>
        </p:nvSpPr>
        <p:spPr>
          <a:xfrm>
            <a:off x="353961" y="979944"/>
            <a:ext cx="1044185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trend of sessions, orders, and revenue.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rate (sessions → orders) and average order value (AOV).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and % revenue share by product.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refund rate, and refund rate broken down by product.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and revenue split by channel, source, and device type.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 vs. weekend order volume, and new vs. repeat session performance.</a:t>
            </a:r>
          </a:p>
        </p:txBody>
      </p:sp>
    </p:spTree>
    <p:extLst>
      <p:ext uri="{BB962C8B-B14F-4D97-AF65-F5344CB8AC3E}">
        <p14:creationId xmlns:p14="http://schemas.microsoft.com/office/powerpoint/2010/main" val="67691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E3724-BBD8-E721-726A-9C0F3C0C7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758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Plan — Diagnostic Analysis</a:t>
            </a:r>
            <a:endParaRPr lang="en-IN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BE5753-2B4F-74A3-51B8-550C3FABCC66}"/>
              </a:ext>
            </a:extLst>
          </p:cNvPr>
          <p:cNvSpPr txBox="1"/>
          <p:nvPr/>
        </p:nvSpPr>
        <p:spPr>
          <a:xfrm>
            <a:off x="353961" y="979944"/>
            <a:ext cx="104418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acquisition channels convert best — and which drive higher refund rates? Compares source/campaign performance against refund rate to separate genuinely strong channels from ones that just generate volume.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products drive revenue vs. which drive refunds? Cross-checks product revenue share against product-level refund rate to flag profitable-but-risky SKUs.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does the session-to-order funnel lose people? Breaks the funnel down by device and channel to find where drop-off concentrates.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page-level bounce behavior explain low conversion on certain pages? Links bounce rate and pageviews-per-session by URL to conversion outcomes.</a:t>
            </a:r>
          </a:p>
        </p:txBody>
      </p:sp>
    </p:spTree>
    <p:extLst>
      <p:ext uri="{BB962C8B-B14F-4D97-AF65-F5344CB8AC3E}">
        <p14:creationId xmlns:p14="http://schemas.microsoft.com/office/powerpoint/2010/main" val="67691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0617E-16A4-CE1C-8765-DD4F721FA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80210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 and Auditing  (1/6)</a:t>
            </a:r>
            <a:endParaRPr lang="en-IN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D8FEC4-4359-E700-71C0-E84ABD9660D7}"/>
              </a:ext>
            </a:extLst>
          </p:cNvPr>
          <p:cNvSpPr txBox="1"/>
          <p:nvPr/>
        </p:nvSpPr>
        <p:spPr>
          <a:xfrm>
            <a:off x="497305" y="28234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7C306B-19B6-3111-AABA-633EE3566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757483"/>
              </p:ext>
            </p:extLst>
          </p:nvPr>
        </p:nvGraphicFramePr>
        <p:xfrm>
          <a:off x="497305" y="1540041"/>
          <a:ext cx="11158247" cy="472820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52362">
                  <a:extLst>
                    <a:ext uri="{9D8B030D-6E8A-4147-A177-3AD203B41FA5}">
                      <a16:colId xmlns:a16="http://schemas.microsoft.com/office/drawing/2014/main" val="1838598874"/>
                    </a:ext>
                  </a:extLst>
                </a:gridCol>
                <a:gridCol w="7102418">
                  <a:extLst>
                    <a:ext uri="{9D8B030D-6E8A-4147-A177-3AD203B41FA5}">
                      <a16:colId xmlns:a16="http://schemas.microsoft.com/office/drawing/2014/main" val="497710254"/>
                    </a:ext>
                  </a:extLst>
                </a:gridCol>
                <a:gridCol w="1603467">
                  <a:extLst>
                    <a:ext uri="{9D8B030D-6E8A-4147-A177-3AD203B41FA5}">
                      <a16:colId xmlns:a16="http://schemas.microsoft.com/office/drawing/2014/main" val="2111804183"/>
                    </a:ext>
                  </a:extLst>
                </a:gridCol>
              </a:tblGrid>
              <a:tr h="454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696306"/>
                  </a:ext>
                </a:extLst>
              </a:tr>
              <a:tr h="4542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website_session_id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ID for each website visit.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209710"/>
                  </a:ext>
                </a:extLst>
              </a:tr>
              <a:tr h="4542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created_at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and time the session started.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6542499"/>
                  </a:ext>
                </a:extLst>
              </a:tr>
              <a:tr h="4542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user_id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the visitor associated with the session.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3401620"/>
                  </a:ext>
                </a:extLst>
              </a:tr>
              <a:tr h="4542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is_repeat_session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Flags whether this is a repeat visit (1) or a new visit (0).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1869919"/>
                  </a:ext>
                </a:extLst>
              </a:tr>
              <a:tr h="4542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utm_source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marketing source that drove the session (e.g. a search engine or social platform).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060561"/>
                  </a:ext>
                </a:extLst>
              </a:tr>
              <a:tr h="4542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utm_campaign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marketing campaign associated with the session.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1882631"/>
                  </a:ext>
                </a:extLst>
              </a:tr>
              <a:tr h="4542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utm_content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specific ad or content variant associated with the session.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1749302"/>
                  </a:ext>
                </a:extLst>
              </a:tr>
              <a:tr h="4542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device_type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type of device used for the session (desktop or mobile).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511363"/>
                  </a:ext>
                </a:extLst>
              </a:tr>
              <a:tr h="4542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http_referer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referring website or search engine for the session.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392581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D55FA9A-57EE-D597-0140-7C842C26EA96}"/>
              </a:ext>
            </a:extLst>
          </p:cNvPr>
          <p:cNvSpPr txBox="1"/>
          <p:nvPr/>
        </p:nvSpPr>
        <p:spPr>
          <a:xfrm>
            <a:off x="403197" y="1041247"/>
            <a:ext cx="61521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Website Sessions table — field-by-field review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B9B27F-8D41-846D-AAD9-D1E5549080C9}"/>
              </a:ext>
            </a:extLst>
          </p:cNvPr>
          <p:cNvSpPr txBox="1"/>
          <p:nvPr/>
        </p:nvSpPr>
        <p:spPr>
          <a:xfrm>
            <a:off x="5255916" y="1118191"/>
            <a:ext cx="2598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rows: 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472,871 rows</a:t>
            </a:r>
            <a:endParaRPr lang="en-US" dirty="0"/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8B5283-4BDD-DB66-C0B4-D2756CB508B0}"/>
              </a:ext>
            </a:extLst>
          </p:cNvPr>
          <p:cNvSpPr txBox="1"/>
          <p:nvPr/>
        </p:nvSpPr>
        <p:spPr>
          <a:xfrm>
            <a:off x="7854768" y="1120586"/>
            <a:ext cx="38007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Date range: 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19 Mar 2012 – 19 Mar 2015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345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61B02-1DDE-84F4-183A-4E5E0A6D2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B656B-BF2F-2EF1-9DC4-1EAD2DD00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304295" cy="80210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 and Auditing (2/6)</a:t>
            </a:r>
            <a:endParaRPr lang="en-IN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ECAB87-057F-377E-9C13-7B8C407F5FC7}"/>
              </a:ext>
            </a:extLst>
          </p:cNvPr>
          <p:cNvSpPr txBox="1"/>
          <p:nvPr/>
        </p:nvSpPr>
        <p:spPr>
          <a:xfrm>
            <a:off x="497305" y="28234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8A83CE-3999-F651-077E-233EDE3E4877}"/>
              </a:ext>
            </a:extLst>
          </p:cNvPr>
          <p:cNvSpPr txBox="1"/>
          <p:nvPr/>
        </p:nvSpPr>
        <p:spPr>
          <a:xfrm>
            <a:off x="403197" y="1041247"/>
            <a:ext cx="6152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Website Pageviews table — field-by-field review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037708-A1C2-2BDB-3D86-BB6EBA8D9C63}"/>
              </a:ext>
            </a:extLst>
          </p:cNvPr>
          <p:cNvSpPr txBox="1"/>
          <p:nvPr/>
        </p:nvSpPr>
        <p:spPr>
          <a:xfrm>
            <a:off x="5047370" y="1037981"/>
            <a:ext cx="2897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rows:  1,188,124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rows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4432FC-295D-6ED0-0274-40C5136FFDEE}"/>
              </a:ext>
            </a:extLst>
          </p:cNvPr>
          <p:cNvSpPr txBox="1"/>
          <p:nvPr/>
        </p:nvSpPr>
        <p:spPr>
          <a:xfrm>
            <a:off x="7854768" y="1072460"/>
            <a:ext cx="38007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Date range: 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19 Mar 2012 – 19 Mar 2015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E25E93-F182-2053-00B6-94C544715F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178266"/>
              </p:ext>
            </p:extLst>
          </p:nvPr>
        </p:nvGraphicFramePr>
        <p:xfrm>
          <a:off x="589670" y="1954667"/>
          <a:ext cx="10817352" cy="3429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3183135655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4069933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31887921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1324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website_pageview_id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ID for each page viewed.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43477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created_at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and time the page was viewed.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206501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website_session_id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the page view to the session it belongs to.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462755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pageview_url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specific page URL that was viewed.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3363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6909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CBD0D-6068-CADB-F27E-E419B7252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27D43-C09C-23C4-711F-89289C859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304295" cy="80210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 and Auditing (3/6)</a:t>
            </a:r>
            <a:endParaRPr lang="en-IN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8820DD-543E-77A8-A430-CBD56CA164C7}"/>
              </a:ext>
            </a:extLst>
          </p:cNvPr>
          <p:cNvSpPr txBox="1"/>
          <p:nvPr/>
        </p:nvSpPr>
        <p:spPr>
          <a:xfrm>
            <a:off x="497305" y="28234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AB3D3D-4A51-C068-9743-26AEDA582DF8}"/>
              </a:ext>
            </a:extLst>
          </p:cNvPr>
          <p:cNvSpPr txBox="1"/>
          <p:nvPr/>
        </p:nvSpPr>
        <p:spPr>
          <a:xfrm>
            <a:off x="403197" y="1041247"/>
            <a:ext cx="46441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Orders table — field-by-field review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751245-1834-AB62-27EE-950D03DE8CBE}"/>
              </a:ext>
            </a:extLst>
          </p:cNvPr>
          <p:cNvSpPr txBox="1"/>
          <p:nvPr/>
        </p:nvSpPr>
        <p:spPr>
          <a:xfrm>
            <a:off x="4583503" y="1072460"/>
            <a:ext cx="26087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rows:  32,313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rows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8DD08B-BB9F-C00F-1D83-9CD881D39DE5}"/>
              </a:ext>
            </a:extLst>
          </p:cNvPr>
          <p:cNvSpPr txBox="1"/>
          <p:nvPr/>
        </p:nvSpPr>
        <p:spPr>
          <a:xfrm>
            <a:off x="7347284" y="1072460"/>
            <a:ext cx="4308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Date range: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19 Mar 2012 – 19 Mar 2015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67CE83-C57C-B825-6BC0-9815A34B8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553563"/>
              </p:ext>
            </p:extLst>
          </p:nvPr>
        </p:nvGraphicFramePr>
        <p:xfrm>
          <a:off x="497305" y="1680499"/>
          <a:ext cx="10817352" cy="4399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955566011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417519584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54130282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712282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order_id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ID given to each customer order.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2820109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created_at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and time when the order was created.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880425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website_session_id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the order with the website session through which it was placed.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1469610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user_id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the customer who placed the order.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8280763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primary_product_id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the main/primary product purchased in the order.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7535164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items_purchased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items/products purchased in the order.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8531033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price_usd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 generated from the order.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9629299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cogs_usd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of the products in the order.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F2D2E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  <a:endParaRPr lang="en-US" sz="20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790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8635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B3608-CBF1-8A17-A7FC-A9850D9EC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2833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 and Auditing (4/6)</a:t>
            </a:r>
            <a:endParaRPr lang="en-IN" sz="4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518F9D1-6921-561E-9F06-00BE34250777}"/>
              </a:ext>
            </a:extLst>
          </p:cNvPr>
          <p:cNvSpPr/>
          <p:nvPr/>
        </p:nvSpPr>
        <p:spPr>
          <a:xfrm>
            <a:off x="548640" y="914400"/>
            <a:ext cx="3798766" cy="516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Order Items table — field-by-field review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69EEE69-36F1-43E0-EF70-714C9A5EE569}"/>
              </a:ext>
            </a:extLst>
          </p:cNvPr>
          <p:cNvSpPr/>
          <p:nvPr/>
        </p:nvSpPr>
        <p:spPr>
          <a:xfrm>
            <a:off x="4475742" y="914400"/>
            <a:ext cx="25827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rows: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40,025 rows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3B9CFA4-2174-1797-F43B-FB4481EDA031}"/>
              </a:ext>
            </a:extLst>
          </p:cNvPr>
          <p:cNvSpPr/>
          <p:nvPr/>
        </p:nvSpPr>
        <p:spPr>
          <a:xfrm>
            <a:off x="7056920" y="92833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Date range: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19 Mar 2012 – 19 Mar 2015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50D8CBD2-6A4F-743D-DA2F-05192F6C2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46356"/>
              </p:ext>
            </p:extLst>
          </p:nvPr>
        </p:nvGraphicFramePr>
        <p:xfrm>
          <a:off x="374321" y="1602105"/>
          <a:ext cx="10817352" cy="434149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order_item_id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ID for each individual item within an order.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created_at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and time the item record was created.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order_id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the item to the order it belongs to.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product_id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which product this item is.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is_primary_item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Flags whether this is the main product in the order (1) or an add-on (0).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price_usd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 generated from this item.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cogs_usd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of this item.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5171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BBB99-DAC0-71F2-F9AF-1D89882B4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51A95-ECB2-A0DB-FEAA-B15E7698A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80210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 and Auditing (5/6)</a:t>
            </a:r>
            <a:endParaRPr lang="en-IN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145C0-0909-41F6-BDFD-998047834F47}"/>
              </a:ext>
            </a:extLst>
          </p:cNvPr>
          <p:cNvSpPr txBox="1"/>
          <p:nvPr/>
        </p:nvSpPr>
        <p:spPr>
          <a:xfrm>
            <a:off x="497305" y="28234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53072A-2731-AFD2-B923-652AFC182EFD}"/>
              </a:ext>
            </a:extLst>
          </p:cNvPr>
          <p:cNvSpPr txBox="1"/>
          <p:nvPr/>
        </p:nvSpPr>
        <p:spPr>
          <a:xfrm>
            <a:off x="403197" y="1041247"/>
            <a:ext cx="4505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Products table — field-by-field review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2EBE69-9D8C-8E56-1C61-177616FA4E7E}"/>
              </a:ext>
            </a:extLst>
          </p:cNvPr>
          <p:cNvSpPr txBox="1"/>
          <p:nvPr/>
        </p:nvSpPr>
        <p:spPr>
          <a:xfrm>
            <a:off x="4453433" y="1022592"/>
            <a:ext cx="2008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Total rows:  4 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rows</a:t>
            </a:r>
            <a:endParaRPr lang="en-US" dirty="0"/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430FEB-F7F7-5303-9B9F-1BF22EFCCEC2}"/>
              </a:ext>
            </a:extLst>
          </p:cNvPr>
          <p:cNvSpPr txBox="1"/>
          <p:nvPr/>
        </p:nvSpPr>
        <p:spPr>
          <a:xfrm>
            <a:off x="7058728" y="1056636"/>
            <a:ext cx="38007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Date range:  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19 Mar 2012 – 19 Mar 2015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B86877-09FA-7545-A918-C2D1A7CA8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124329"/>
              </p:ext>
            </p:extLst>
          </p:nvPr>
        </p:nvGraphicFramePr>
        <p:xfrm>
          <a:off x="403197" y="1908065"/>
          <a:ext cx="10817352" cy="2743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545825438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128536273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155955961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212435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product_id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ID for each product.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06137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created_at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date the product was launched.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64032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product_name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name of the product.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4339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227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DB6C-EA19-81D4-80FB-5F97422E6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93044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 and Auditing (6/6)</a:t>
            </a:r>
            <a:endParaRPr lang="en-IN" sz="4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688BA41-44E8-6281-7437-64F1793E96C4}"/>
              </a:ext>
            </a:extLst>
          </p:cNvPr>
          <p:cNvSpPr/>
          <p:nvPr/>
        </p:nvSpPr>
        <p:spPr>
          <a:xfrm>
            <a:off x="548640" y="1138588"/>
            <a:ext cx="46169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Order Item Refunds table — field-by-field review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B45EAD8-D2C3-978B-0F1C-A9FAD7BA5834}"/>
              </a:ext>
            </a:extLst>
          </p:cNvPr>
          <p:cNvSpPr/>
          <p:nvPr/>
        </p:nvSpPr>
        <p:spPr>
          <a:xfrm>
            <a:off x="5399773" y="11385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rows: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1,731 rows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3AFDFFC-0D27-FE64-ADCA-EE635112055F}"/>
              </a:ext>
            </a:extLst>
          </p:cNvPr>
          <p:cNvSpPr/>
          <p:nvPr/>
        </p:nvSpPr>
        <p:spPr>
          <a:xfrm>
            <a:off x="7985760" y="114059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Date range: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Apr 2012 – 1 Apr 2015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E60A4D9A-6F0F-F260-5EF8-D575051D8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762961"/>
              </p:ext>
            </p:extLst>
          </p:nvPr>
        </p:nvGraphicFramePr>
        <p:xfrm>
          <a:off x="548640" y="1849654"/>
          <a:ext cx="10817352" cy="4114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51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3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order_item_refund_id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ID for each refund record.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created_at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and time the refund was processed.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order_item_id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the refund to the specific item that was refunded.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order_id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Connects the refund to the order it belongs to.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refund_amount_usd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dollar amount refunded.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  <a:endParaRPr 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217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63EB-2571-675A-164A-BB9B13F45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86523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br>
              <a:rPr lang="en-US" sz="4400" i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</a:br>
            <a:r>
              <a:rPr lang="en-US" sz="4400" i="1" dirty="0">
                <a:solidFill>
                  <a:srgbClr val="013A4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Entity Relationship Diagram</a:t>
            </a:r>
            <a:b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969310-27B5-BA0A-9D21-F31E443ABB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14"/>
          <a:stretch>
            <a:fillRect/>
          </a:stretch>
        </p:blipFill>
        <p:spPr>
          <a:xfrm>
            <a:off x="1985389" y="1052052"/>
            <a:ext cx="8662946" cy="50681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4AE897-C852-BDDA-E429-3C8642BE2956}"/>
              </a:ext>
            </a:extLst>
          </p:cNvPr>
          <p:cNvSpPr txBox="1"/>
          <p:nvPr/>
        </p:nvSpPr>
        <p:spPr>
          <a:xfrm>
            <a:off x="83211" y="927659"/>
            <a:ext cx="4331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the six tables connect to one another.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83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CB6B-7E5E-49F3-9B9E-7F00F4425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809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ER-Diagram Relationships</a:t>
            </a:r>
            <a:endParaRPr lang="en-IN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A2C380-7C2E-1385-4015-D363706A6E96}"/>
              </a:ext>
            </a:extLst>
          </p:cNvPr>
          <p:cNvSpPr txBox="1"/>
          <p:nvPr/>
        </p:nvSpPr>
        <p:spPr>
          <a:xfrm>
            <a:off x="0" y="698090"/>
            <a:ext cx="6784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table's unique identifier, and how it links to the rest of the model.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9ED5C5-BAC9-540E-87F8-2B46DAF47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668140"/>
              </p:ext>
            </p:extLst>
          </p:nvPr>
        </p:nvGraphicFramePr>
        <p:xfrm>
          <a:off x="385916" y="1067422"/>
          <a:ext cx="11127659" cy="459812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91813">
                  <a:extLst>
                    <a:ext uri="{9D8B030D-6E8A-4147-A177-3AD203B41FA5}">
                      <a16:colId xmlns:a16="http://schemas.microsoft.com/office/drawing/2014/main" val="3459668008"/>
                    </a:ext>
                  </a:extLst>
                </a:gridCol>
                <a:gridCol w="2399071">
                  <a:extLst>
                    <a:ext uri="{9D8B030D-6E8A-4147-A177-3AD203B41FA5}">
                      <a16:colId xmlns:a16="http://schemas.microsoft.com/office/drawing/2014/main" val="1438644460"/>
                    </a:ext>
                  </a:extLst>
                </a:gridCol>
                <a:gridCol w="2182761">
                  <a:extLst>
                    <a:ext uri="{9D8B030D-6E8A-4147-A177-3AD203B41FA5}">
                      <a16:colId xmlns:a16="http://schemas.microsoft.com/office/drawing/2014/main" val="538926944"/>
                    </a:ext>
                  </a:extLst>
                </a:gridCol>
                <a:gridCol w="4454014">
                  <a:extLst>
                    <a:ext uri="{9D8B030D-6E8A-4147-A177-3AD203B41FA5}">
                      <a16:colId xmlns:a16="http://schemas.microsoft.com/office/drawing/2014/main" val="3026664509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Key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Foreign Key(s)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References</a:t>
                      </a:r>
                      <a:endParaRPr 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7531209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website_sessions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website_session_id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root table — every session starts here.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371246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website_pageviews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website_pageview_id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website_session_id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website_sessions.website_session_id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982381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order_id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website_session_id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website_sessions.website_session_id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025752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orders_items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order_item_id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order_id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product_id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orders.order_id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products.product_id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433667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order_item_refunds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order_item_refund_id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order_item_id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order_id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orders_items.order_item_id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orders.order_id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25538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product_id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Referenced by orders_items.product_id (enforced) and orders.primary_product_id (logical link only, no constraint).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438932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C549CED-A81A-D9FE-10AD-1EB7949D2B13}"/>
              </a:ext>
            </a:extLst>
          </p:cNvPr>
          <p:cNvSpPr txBox="1"/>
          <p:nvPr/>
        </p:nvSpPr>
        <p:spPr>
          <a:xfrm>
            <a:off x="385916" y="5729023"/>
            <a:ext cx="111276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Flow:  </a:t>
            </a: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website_sessions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→ orders / </a:t>
            </a: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website_pageviews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→ </a:t>
            </a: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orders_items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→ </a:t>
            </a: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order_item_refunds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with products feeding </a:t>
            </a:r>
            <a:r>
              <a:rPr lang="en-US" sz="1600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orders_items</a:t>
            </a:r>
            <a:r>
              <a:rPr lang="en-US" sz="16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142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DB6C-EA19-81D4-80FB-5F97422E6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93044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 Checks — Categories</a:t>
            </a:r>
            <a:endParaRPr lang="en-IN" sz="4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688BA41-44E8-6281-7437-64F1793E96C4}"/>
              </a:ext>
            </a:extLst>
          </p:cNvPr>
          <p:cNvSpPr/>
          <p:nvPr/>
        </p:nvSpPr>
        <p:spPr>
          <a:xfrm>
            <a:off x="548640" y="1138588"/>
            <a:ext cx="46169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across all six tables before KPI &amp; dashboard build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B45EAD8-D2C3-978B-0F1C-A9FAD7BA5834}"/>
              </a:ext>
            </a:extLst>
          </p:cNvPr>
          <p:cNvSpPr/>
          <p:nvPr/>
        </p:nvSpPr>
        <p:spPr>
          <a:xfrm>
            <a:off x="5399773" y="11385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Checks run: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 categories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3AFDFFC-0D27-FE64-ADCA-EE635112055F}"/>
              </a:ext>
            </a:extLst>
          </p:cNvPr>
          <p:cNvSpPr/>
          <p:nvPr/>
        </p:nvSpPr>
        <p:spPr>
          <a:xfrm>
            <a:off x="7985760" y="114059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Scope: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6 tables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E60A4D9A-6F0F-F260-5EF8-D575051D8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762961"/>
              </p:ext>
            </p:extLst>
          </p:nvPr>
        </p:nvGraphicFramePr>
        <p:xfrm>
          <a:off x="548640" y="1849654"/>
          <a:ext cx="10817352" cy="32726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0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7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category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it verifies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key uniqueness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duplicate order_item_id rows in orders_items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 duplicate order-item rows found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Referential integrity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Every FK has a matching parent row (6 relationships checked)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 orphaned records across all 6 relationships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Null / completeness audit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Which columns are NULL, and how many, on utm_source, utm_campaign, device_type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Null counts flagged on source, campaign &amp; device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Range / logic checks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impossible values: negative price/cogs, cogs &gt; price, future dates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negative prices/costs or future-dated rows found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/ formatting audit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Leading or trailing spaces in text fields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few product names had stray leading/trailing spaces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count / structure check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Confirms expected row counts per table before analysis begins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counts matched expected import totals on all 6 tables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217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DB6C-EA19-81D4-80FB-5F97422E6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93044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Plan — Issues &amp; Resolutions</a:t>
            </a:r>
            <a:endParaRPr lang="en-IN" sz="4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688BA41-44E8-6281-7437-64F1793E96C4}"/>
              </a:ext>
            </a:extLst>
          </p:cNvPr>
          <p:cNvSpPr/>
          <p:nvPr/>
        </p:nvSpPr>
        <p:spPr>
          <a:xfrm>
            <a:off x="548640" y="1138588"/>
            <a:ext cx="46169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Data-quality issues identified during the audit, and how each is resolved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B45EAD8-D2C3-978B-0F1C-A9FAD7BA5834}"/>
              </a:ext>
            </a:extLst>
          </p:cNvPr>
          <p:cNvSpPr/>
          <p:nvPr/>
        </p:nvSpPr>
        <p:spPr>
          <a:xfrm>
            <a:off x="5399773" y="11385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Issues found: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3AFDFFC-0D27-FE64-ADCA-EE635112055F}"/>
              </a:ext>
            </a:extLst>
          </p:cNvPr>
          <p:cNvSpPr/>
          <p:nvPr/>
        </p:nvSpPr>
        <p:spPr>
          <a:xfrm>
            <a:off x="7985760" y="114059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Fix approach: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Read-only clean views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E60A4D9A-6F0F-F260-5EF8-D575051D8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762961"/>
              </p:ext>
            </p:extLst>
          </p:nvPr>
        </p:nvGraphicFramePr>
        <p:xfrm>
          <a:off x="548640" y="1849654"/>
          <a:ext cx="10817352" cy="3508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0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7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Issue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We Found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It's Resolved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marketing dimensions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Some sessions missing utm_source, utm_campaign, or device_type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Standardized with default labels ("direct/unknown", "unspecified") so every session stays usable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Refund status not linked at item level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Refund records live in a separate table from order items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Derived an is_refunded flag joined onto each order item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Margin not pre-calculated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Profitability had to be recalculated every time it was needed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Margin (price − cost) derived once in a clean, reusable view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Minor text irregularities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few product names carried leading/trailing whitespace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Flagged in the text-quality audit and trimmed in the clean layer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 orphaned / duplicate records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Verified across all 6 relationships and every primary key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fix needed — confirms clean, trustworthy joins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trusted, reusable layer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Every dashboard, report, and model needs a single source of truth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fixes implemented as read-only views on top of the raw tables — original data is never modified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217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E3724-BBD8-E721-726A-9C0F3C0C7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2758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&amp; Prescriptive Analysis Plan</a:t>
            </a:r>
            <a:endParaRPr lang="en-IN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BE5753-2B4F-74A3-51B8-550C3FABCC66}"/>
              </a:ext>
            </a:extLst>
          </p:cNvPr>
          <p:cNvSpPr txBox="1"/>
          <p:nvPr/>
        </p:nvSpPr>
        <p:spPr>
          <a:xfrm>
            <a:off x="353961" y="979944"/>
            <a:ext cx="1044185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&amp; Diagnostic (in progress via SQL / Power BI): historic KPI reporting and root-cause breakdowns by channel, product, and device.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(planned): forecast next-period revenue / order volume; flag orders at high refund risk.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Prescriptive (planned): turn predictions into action — reallocate budget toward the highest-converting channels; flag high refund-risk SKUs before shipping.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rationale — revenue / demand forecasting: Linear Regression, since the target (future revenue or order volume) is continuous and trend-driven.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rationale — refund-risk flagging: Logistic Regression as the lead candidate, since the outcome is binary (refunded / not refunded).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 R² / RMSE for the regression forecast; precision &amp; recall (not raw accuracy) for refund-risk, since refund cases are the minority class.</a:t>
            </a:r>
          </a:p>
        </p:txBody>
      </p:sp>
    </p:spTree>
    <p:extLst>
      <p:ext uri="{BB962C8B-B14F-4D97-AF65-F5344CB8AC3E}">
        <p14:creationId xmlns:p14="http://schemas.microsoft.com/office/powerpoint/2010/main" val="676912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DB6C-EA19-81D4-80FB-5F97422E6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93044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Models — Python (scikit-learn)</a:t>
            </a:r>
            <a:endParaRPr lang="en-IN" sz="4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688BA41-44E8-6281-7437-64F1793E96C4}"/>
              </a:ext>
            </a:extLst>
          </p:cNvPr>
          <p:cNvSpPr/>
          <p:nvPr/>
        </p:nvSpPr>
        <p:spPr>
          <a:xfrm>
            <a:off x="548640" y="1138588"/>
            <a:ext cx="46169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Basic → Advanced modeling on top of the cleaned SQL views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B45EAD8-D2C3-978B-0F1C-A9FAD7BA5834}"/>
              </a:ext>
            </a:extLst>
          </p:cNvPr>
          <p:cNvSpPr/>
          <p:nvPr/>
        </p:nvSpPr>
        <p:spPr>
          <a:xfrm>
            <a:off x="5399773" y="11385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Models built: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tasks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3AFDFFC-0D27-FE64-ADCA-EE635112055F}"/>
              </a:ext>
            </a:extLst>
          </p:cNvPr>
          <p:cNvSpPr/>
          <p:nvPr/>
        </p:nvSpPr>
        <p:spPr>
          <a:xfrm>
            <a:off x="7985760" y="114059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Artifacts: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pickled pipelines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E60A4D9A-6F0F-F260-5EF8-D575051D8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762961"/>
              </p:ext>
            </p:extLst>
          </p:nvPr>
        </p:nvGraphicFramePr>
        <p:xfrm>
          <a:off x="548640" y="1849654"/>
          <a:ext cx="10817352" cy="32041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0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7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 (Basic → Advanced)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/ Metric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 forecast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 (trend + seasonality) → Random Forest (+ lag &amp; rolling-avg features), TimeSeriesSplit CV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MAE, RMSE, R²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Refund likelihood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 → Random Forest Classifier, both in a ColumnTransformer pipeline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Accuracy, Precision, Recall, F1, ROC-AUC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Forecast features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month_index, month_of_year, revenue_lag1, orders_lag1, revenue_rolling3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 from monthly_kpi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Refund features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price_usd, cogs_usd, margin_usd, margin_pct, product / channel / device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 from order_items + orders + sessions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Saved artifacts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Trained pipelines pickled for reuse without retraining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revenue_forecast_model.pkl, refund_classifier_pipeline.pkl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2170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DB6C-EA19-81D4-80FB-5F97422E6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93044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Prescriptive Analytics — Recommendation Rules</a:t>
            </a:r>
            <a:endParaRPr lang="en-IN" sz="4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688BA41-44E8-6281-7437-64F1793E96C4}"/>
              </a:ext>
            </a:extLst>
          </p:cNvPr>
          <p:cNvSpPr/>
          <p:nvPr/>
        </p:nvSpPr>
        <p:spPr>
          <a:xfrm>
            <a:off x="548640" y="1138588"/>
            <a:ext cx="46169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Rule-based logic in Python, applied to the descriptive / diagnostic / predictive outputs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B45EAD8-D2C3-978B-0F1C-A9FAD7BA5834}"/>
              </a:ext>
            </a:extLst>
          </p:cNvPr>
          <p:cNvSpPr/>
          <p:nvPr/>
        </p:nvSpPr>
        <p:spPr>
          <a:xfrm>
            <a:off x="5399773" y="11385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Rules coded: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actions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3AFDFFC-0D27-FE64-ADCA-EE635112055F}"/>
              </a:ext>
            </a:extLst>
          </p:cNvPr>
          <p:cNvSpPr/>
          <p:nvPr/>
        </p:nvSpPr>
        <p:spPr>
          <a:xfrm>
            <a:off x="7985760" y="114059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prescriptive_recommendations.csv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E60A4D9A-6F0F-F260-5EF8-D575051D8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762961"/>
              </p:ext>
            </p:extLst>
          </p:nvPr>
        </p:nvGraphicFramePr>
        <p:xfrm>
          <a:off x="548640" y="1849654"/>
          <a:ext cx="10817352" cy="24726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0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7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Trigger Rule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Source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Flag high refund-rate products for review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refund_rate_pct &gt; mean + 1 standard deviation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refund_by_product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Shift budget to high-converting channels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Each channel's conversion_rate_pct compared to overall average → increase or reduce budget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channel_perf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 AOV-lifting actions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Product-level AOV below the overall AOV → bundle / cross-sell candidate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product_aov (from order_items + orders)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Prioritize restocking top revenue drivers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2 products ranked by pct_of_total_revenue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product_mix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2170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44019-5137-E144-4B1F-E8A0DF0D6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406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Dimensions Available</a:t>
            </a:r>
            <a:endParaRPr lang="en-IN" sz="4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C52C3CFE-AF63-9B6E-F54F-AA2EC74EB381}"/>
              </a:ext>
            </a:extLst>
          </p:cNvPr>
          <p:cNvSpPr/>
          <p:nvPr/>
        </p:nvSpPr>
        <p:spPr>
          <a:xfrm>
            <a:off x="314705" y="1178060"/>
            <a:ext cx="9714198" cy="3266121"/>
          </a:xfrm>
          <a:prstGeom prst="roundRect">
            <a:avLst>
              <a:gd name="adj" fmla="val 3200"/>
            </a:avLst>
          </a:prstGeom>
          <a:solidFill>
            <a:srgbClr val="EAF6F5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source: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gsearch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bsearch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socialbook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(plus null/direct)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Campaign type: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nonbrand, brand,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desktop_targeted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pilot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type: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desktop, mobile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SKUs launched at different points across the 3-year window, enabling before/after and cross-sell analysis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545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DB6C-EA19-81D4-80FB-5F97422E6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93044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Layout Plan — Overview</a:t>
            </a:r>
            <a:endParaRPr lang="en-IN" sz="4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688BA41-44E8-6281-7437-64F1793E96C4}"/>
              </a:ext>
            </a:extLst>
          </p:cNvPr>
          <p:cNvSpPr/>
          <p:nvPr/>
        </p:nvSpPr>
        <p:spPr>
          <a:xfrm>
            <a:off x="548640" y="1138588"/>
            <a:ext cx="46169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Four report pages, each built for a specific business question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B45EAD8-D2C3-978B-0F1C-A9FAD7BA5834}"/>
              </a:ext>
            </a:extLst>
          </p:cNvPr>
          <p:cNvSpPr/>
          <p:nvPr/>
        </p:nvSpPr>
        <p:spPr>
          <a:xfrm>
            <a:off x="5399773" y="11385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 pages: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pages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3AFDFFC-0D27-FE64-ADCA-EE635112055F}"/>
              </a:ext>
            </a:extLst>
          </p:cNvPr>
          <p:cNvSpPr/>
          <p:nvPr/>
        </p:nvSpPr>
        <p:spPr>
          <a:xfrm>
            <a:off x="7985760" y="114059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Navigation:  </a:t>
            </a: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 home hub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E60A4D9A-6F0F-F260-5EF8-D575051D8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762961"/>
              </p:ext>
            </p:extLst>
          </p:nvPr>
        </p:nvGraphicFramePr>
        <p:xfrm>
          <a:off x="548640" y="1849654"/>
          <a:ext cx="10817352" cy="27544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0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7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 Page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It Shows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Stakeholder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Home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Navigation hub linking every report page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stakeholders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Channel Analysis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Which sources, campaigns &amp; devices drive revenue — and refunds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 Parmesan — Marketing Director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Analysis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Product-level revenue, margin, cost &amp; refund trends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Cindy Sharp — CEO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Analysis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 behavior, new vs. repeat customers, funnel drop-off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Morgan Rockwell — Website Manager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Pageview Analysis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Page-level engagement, bounce rate &amp; revenue by landing page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Morgan Rockwell — Website Manager</a:t>
                      </a:r>
                      <a:endParaRPr lang="en-US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217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B0A77-89A5-9ECC-E31E-5B4845C92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137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solidFill>
                  <a:schemeClr val="bg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Channel Analysis</a:t>
            </a:r>
            <a:endParaRPr lang="en-IN" sz="4400" i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E59356-05D4-2751-6ADF-5BE8B86EB122}"/>
              </a:ext>
            </a:extLst>
          </p:cNvPr>
          <p:cNvSpPr txBox="1"/>
          <p:nvPr/>
        </p:nvSpPr>
        <p:spPr>
          <a:xfrm>
            <a:off x="330082" y="1381843"/>
            <a:ext cx="6900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Where sessions &amp; revenue come from, and how healthy each channel is.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4AE313-C6FB-6AC7-17D2-C79C99D85E92}"/>
              </a:ext>
            </a:extLst>
          </p:cNvPr>
          <p:cNvSpPr txBox="1"/>
          <p:nvPr/>
        </p:nvSpPr>
        <p:spPr>
          <a:xfrm>
            <a:off x="330082" y="1770745"/>
            <a:ext cx="6240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each part shows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6FE233-FDE8-29C8-2EA5-77A5C62E6F28}"/>
              </a:ext>
            </a:extLst>
          </p:cNvPr>
          <p:cNvSpPr txBox="1"/>
          <p:nvPr/>
        </p:nvSpPr>
        <p:spPr>
          <a:xfrm>
            <a:off x="330082" y="2106830"/>
            <a:ext cx="4881015" cy="389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Summary cards: revenue, orders, AOV, conversion rate, refund rate, refunded items, and high-value orders.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Revenue trend line: total revenue movement month over month.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Orders-by-source pie: which marketing sources bring the most orders.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Refund rate by campaign &amp; by product: flags who's driving returns.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Detail table for drilling into any campaign or source.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D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Filters: date, UTM source, UTM campaign, device type.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0" descr="channel_analysis.png">
            <a:extLst>
              <a:ext uri="{FF2B5EF4-FFF2-40B4-BE49-F238E27FC236}">
                <a16:creationId xmlns:a16="http://schemas.microsoft.com/office/drawing/2014/main" id="{7163FEF3-B07D-9218-BBB7-02841563F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1" y="1737360"/>
            <a:ext cx="6517411" cy="437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72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15D20-0739-E500-8683-08AF3742C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137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Analysis</a:t>
            </a:r>
            <a:endParaRPr lang="en-IN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oduct_analysis.png">
            <a:extLst>
              <a:ext uri="{FF2B5EF4-FFF2-40B4-BE49-F238E27FC236}">
                <a16:creationId xmlns:a16="http://schemas.microsoft.com/office/drawing/2014/main" id="{D8B94DCF-4982-2C11-8003-C254DEEA2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011" y="1803868"/>
            <a:ext cx="7234987" cy="4388385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24581F89-0564-5D55-0190-BEC220633A9A}"/>
              </a:ext>
            </a:extLst>
          </p:cNvPr>
          <p:cNvSpPr/>
          <p:nvPr/>
        </p:nvSpPr>
        <p:spPr>
          <a:xfrm>
            <a:off x="147590" y="1776662"/>
            <a:ext cx="4645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each part shows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097E5D5-7AA4-0C60-A99C-798284EC7697}"/>
              </a:ext>
            </a:extLst>
          </p:cNvPr>
          <p:cNvSpPr/>
          <p:nvPr/>
        </p:nvSpPr>
        <p:spPr>
          <a:xfrm>
            <a:off x="147590" y="2142422"/>
            <a:ext cx="464515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 cards: single most-ordered product and most-profitable product.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Margin &amp; cost overview: revenue, cost, and margin together.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Trend lines: order/revenue movement and margin movement over time.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Performance gauge: quick read against a target.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Product mix ribbon &amp; orders-by-product column charts.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Filters: product name, date.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7976E-A64D-6568-1FFA-5ECA1A32A223}"/>
              </a:ext>
            </a:extLst>
          </p:cNvPr>
          <p:cNvSpPr txBox="1"/>
          <p:nvPr/>
        </p:nvSpPr>
        <p:spPr>
          <a:xfrm>
            <a:off x="0" y="1301457"/>
            <a:ext cx="62163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Which products sell, which are most profitable, and how each is trending.</a:t>
            </a:r>
            <a:endParaRPr lang="en-US" sz="16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467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2016E-3A71-457D-02E0-9FDCBCC5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94684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Analysis</a:t>
            </a:r>
            <a:endParaRPr lang="en-IN" sz="4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D7CCEC-40C9-54B3-4CFF-5BAAE124C8EB}"/>
              </a:ext>
            </a:extLst>
          </p:cNvPr>
          <p:cNvSpPr txBox="1"/>
          <p:nvPr/>
        </p:nvSpPr>
        <p:spPr>
          <a:xfrm>
            <a:off x="9545053" y="33207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6E9A2-E6F7-F9C1-7A76-FDC723D43817}"/>
              </a:ext>
            </a:extLst>
          </p:cNvPr>
          <p:cNvSpPr txBox="1"/>
          <p:nvPr/>
        </p:nvSpPr>
        <p:spPr>
          <a:xfrm>
            <a:off x="3513221" y="410677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5201DAEA-03F9-3274-C9EF-7CD77A9F169D}"/>
              </a:ext>
            </a:extLst>
          </p:cNvPr>
          <p:cNvSpPr/>
          <p:nvPr/>
        </p:nvSpPr>
        <p:spPr>
          <a:xfrm>
            <a:off x="227797" y="1206173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Visitor behaviour — where sessions come from, and how far they get through the funnel.</a:t>
            </a:r>
            <a:endParaRPr lang="en-US" sz="16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4FFCACEC-2BB7-6948-4BAD-F3E531250395}"/>
              </a:ext>
            </a:extLst>
          </p:cNvPr>
          <p:cNvSpPr/>
          <p:nvPr/>
        </p:nvSpPr>
        <p:spPr>
          <a:xfrm>
            <a:off x="227797" y="1604017"/>
            <a:ext cx="4645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each part shows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customer_analysis.png">
            <a:extLst>
              <a:ext uri="{FF2B5EF4-FFF2-40B4-BE49-F238E27FC236}">
                <a16:creationId xmlns:a16="http://schemas.microsoft.com/office/drawing/2014/main" id="{95C8707A-A6DD-5354-9F50-0B74197B1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187" y="1737360"/>
            <a:ext cx="7106651" cy="4326556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BC590D83-1251-8641-5C99-2ACB5F545D64}"/>
              </a:ext>
            </a:extLst>
          </p:cNvPr>
          <p:cNvSpPr/>
          <p:nvPr/>
        </p:nvSpPr>
        <p:spPr>
          <a:xfrm>
            <a:off x="227797" y="1968976"/>
            <a:ext cx="4645152" cy="45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Summary cards: total sessions, total campaign revenue, repeat-session orders, top campaign revenue, top device type.</a:t>
            </a:r>
            <a:endParaRPr lang="en-US" sz="17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Revenue &amp; customers by UTM source, plus orders by device type.</a:t>
            </a:r>
            <a:endParaRPr lang="en-US" sz="17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New-vs-repeat orders by source (table with totals) for drill-down — replaces a separate donut that duplicated the table’s totals.</a:t>
            </a:r>
            <a:endParaRPr lang="en-US" sz="17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sessions vs. total orders bar shows overall conversion at a glance.</a:t>
            </a:r>
            <a:endParaRPr lang="en-US" sz="17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Repeat customers by UTM content, and weekday vs. weekend order volume.</a:t>
            </a:r>
            <a:endParaRPr lang="en-US" sz="17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Filters: UTM source, device type, date.</a:t>
            </a:r>
            <a:endParaRPr lang="en-US" sz="17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9825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FA9F1-8287-6C4A-B864-CF3A1DB5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137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4400" i="1" dirty="0">
                <a:solidFill>
                  <a:schemeClr val="bg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Pageview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4F491B8-CB1F-B352-AA7D-554E7A6E7D40}"/>
              </a:ext>
            </a:extLst>
          </p:cNvPr>
          <p:cNvSpPr/>
          <p:nvPr/>
        </p:nvSpPr>
        <p:spPr>
          <a:xfrm>
            <a:off x="163632" y="121919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On-site browsing behaviour before a purchase decision — what gets seen, what causes visitors to leave.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4CE92312-C8F8-9A38-0E25-0CE9F0249060}"/>
              </a:ext>
            </a:extLst>
          </p:cNvPr>
          <p:cNvSpPr/>
          <p:nvPr/>
        </p:nvSpPr>
        <p:spPr>
          <a:xfrm>
            <a:off x="163632" y="1840830"/>
            <a:ext cx="4645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each part shows</a:t>
            </a:r>
            <a:endParaRPr lang="en-US" sz="2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ageview_analysis.png">
            <a:extLst>
              <a:ext uri="{FF2B5EF4-FFF2-40B4-BE49-F238E27FC236}">
                <a16:creationId xmlns:a16="http://schemas.microsoft.com/office/drawing/2014/main" id="{95591C1F-F89C-4987-309D-48BD3BF3F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104" y="1666556"/>
            <a:ext cx="6945264" cy="4444682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20589038-A9CF-9BAA-746D-003F59E12E24}"/>
              </a:ext>
            </a:extLst>
          </p:cNvPr>
          <p:cNvSpPr/>
          <p:nvPr/>
        </p:nvSpPr>
        <p:spPr>
          <a:xfrm>
            <a:off x="163632" y="2270758"/>
            <a:ext cx="445649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Summary cards: total pageviews, bounce rate, pageviews per session, total sessions.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pageviews by page (pie) &amp; pageview trend by month and device type (line).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Bounce rate by page (table) &amp; revenue by page (bar) for a detailed review.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separate bounced-sessions-by-page column chart was dropped — it duplicated the ranking already shown by the bounce-rate table and the pageview pie.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 algn="just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Filters: page URL, device type, date.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6248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46"/>
          <p:cNvSpPr txBox="1">
            <a:spLocks noGrp="1"/>
          </p:cNvSpPr>
          <p:nvPr>
            <p:ph type="subTitle" idx="1"/>
          </p:nvPr>
        </p:nvSpPr>
        <p:spPr>
          <a:xfrm>
            <a:off x="2849000" y="2488624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 fontScale="92500" lnSpcReduction="10000"/>
          </a:bodyPr>
          <a:lstStyle/>
          <a:p>
            <a:pPr marL="609585" indent="-457189"/>
            <a:r>
              <a:rPr lang="en-US" sz="64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56772840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15523</TotalTime>
  <Words>3513</Words>
  <Application>Microsoft Office PowerPoint</Application>
  <PresentationFormat>Widescreen</PresentationFormat>
  <Paragraphs>454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Open Sans</vt:lpstr>
      <vt:lpstr>PT Sans Narrow</vt:lpstr>
      <vt:lpstr>Raleway</vt:lpstr>
      <vt:lpstr>Times New Roman</vt:lpstr>
      <vt:lpstr>Tropic</vt:lpstr>
      <vt:lpstr>PowerPoint Presentation</vt:lpstr>
      <vt:lpstr>PowerPoint Presentation</vt:lpstr>
      <vt:lpstr>Stakeholder Information</vt:lpstr>
      <vt:lpstr>Technology Stack</vt:lpstr>
      <vt:lpstr>Scope of Work / Deliverables</vt:lpstr>
      <vt:lpstr>Proposed Approach / Methodology</vt:lpstr>
      <vt:lpstr>Assumptions</vt:lpstr>
      <vt:lpstr>Four Types of Analysis</vt:lpstr>
      <vt:lpstr>EDA Plan — Descriptive Analysis</vt:lpstr>
      <vt:lpstr>EDA Plan — Diagnostic Analysis</vt:lpstr>
      <vt:lpstr>Data Understanding and Auditing  (1/6)</vt:lpstr>
      <vt:lpstr>Data Understanding and Auditing (2/6)</vt:lpstr>
      <vt:lpstr>Data Understanding and Auditing (3/6)</vt:lpstr>
      <vt:lpstr>Data Understanding and Auditing (4/6)</vt:lpstr>
      <vt:lpstr>Data Understanding and Auditing (5/6)</vt:lpstr>
      <vt:lpstr>Data Understanding and Auditing (6/6)</vt:lpstr>
      <vt:lpstr> Entity Relationship Diagram  </vt:lpstr>
      <vt:lpstr>ER-Diagram Relationships</vt:lpstr>
      <vt:lpstr>SQL Data Checks — Categories</vt:lpstr>
      <vt:lpstr>Data Processing Plan — Issues &amp; Resolutions</vt:lpstr>
      <vt:lpstr>Predictive &amp; Prescriptive Analysis Plan</vt:lpstr>
      <vt:lpstr>Predictive Models — Python (scikit-learn)</vt:lpstr>
      <vt:lpstr>Prescriptive Analytics — Recommendation Rules</vt:lpstr>
      <vt:lpstr>Key Dimensions Available</vt:lpstr>
      <vt:lpstr>Dashboard Layout Plan — Overview</vt:lpstr>
      <vt:lpstr>Channel Analysis</vt:lpstr>
      <vt:lpstr>Product Analysis</vt:lpstr>
      <vt:lpstr>Customer Analysis</vt:lpstr>
      <vt:lpstr>Pageview Analysis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oorja gund</dc:creator>
  <cp:lastModifiedBy>komal lunawat</cp:lastModifiedBy>
  <cp:revision>102</cp:revision>
  <dcterms:created xsi:type="dcterms:W3CDTF">2025-04-04T02:52:34Z</dcterms:created>
  <dcterms:modified xsi:type="dcterms:W3CDTF">2026-08-22T20:27:13Z</dcterms:modified>
</cp:coreProperties>
</file>